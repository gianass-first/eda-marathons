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Abbott_World_Marathon_Majors_logo_blue.svg.png" descr="Abbott_World_Marathon_Majors_logo_blue.sv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10450" y="1317987"/>
            <a:ext cx="1778881" cy="540614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1"/>
          <p:cNvSpPr/>
          <p:nvPr/>
        </p:nvSpPr>
        <p:spPr>
          <a:xfrm>
            <a:off x="6217920" y="0"/>
            <a:ext cx="457201" cy="5143500"/>
          </a:xfrm>
          <a:prstGeom prst="rect">
            <a:avLst/>
          </a:prstGeom>
          <a:solidFill>
            <a:srgbClr val="5FDF47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3"/>
          <p:cNvSpPr txBox="1"/>
          <p:nvPr/>
        </p:nvSpPr>
        <p:spPr>
          <a:xfrm>
            <a:off x="457200" y="693419"/>
            <a:ext cx="59436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¿Qué factores determinan</a:t>
            </a:r>
          </a:p>
        </p:txBody>
      </p:sp>
      <p:sp>
        <p:nvSpPr>
          <p:cNvPr id="23" name="Text 4"/>
          <p:cNvSpPr txBox="1"/>
          <p:nvPr/>
        </p:nvSpPr>
        <p:spPr>
          <a:xfrm>
            <a:off x="457200" y="1379220"/>
            <a:ext cx="59436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el </a:t>
            </a:r>
            <a:r>
              <a:rPr b="1" i="1">
                <a:solidFill>
                  <a:srgbClr val="D65845"/>
                </a:solidFill>
                <a:latin typeface="Baskerville"/>
                <a:ea typeface="Baskerville"/>
                <a:cs typeface="Baskerville"/>
                <a:sym typeface="Baskerville"/>
              </a:rPr>
              <a:t>rendimiento</a:t>
            </a:r>
            <a:r>
              <a:t> en los</a:t>
            </a:r>
          </a:p>
        </p:txBody>
      </p:sp>
      <p:sp>
        <p:nvSpPr>
          <p:cNvPr id="24" name="Text 5"/>
          <p:cNvSpPr txBox="1"/>
          <p:nvPr/>
        </p:nvSpPr>
        <p:spPr>
          <a:xfrm>
            <a:off x="457200" y="2065019"/>
            <a:ext cx="59436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World Marathon Majors?</a:t>
            </a:r>
          </a:p>
        </p:txBody>
      </p:sp>
      <p:sp>
        <p:nvSpPr>
          <p:cNvPr id="25" name="Text 6"/>
          <p:cNvSpPr txBox="1"/>
          <p:nvPr/>
        </p:nvSpPr>
        <p:spPr>
          <a:xfrm>
            <a:off x="457200" y="3014280"/>
            <a:ext cx="59436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E8E8E8"/>
                </a:solidFill>
              </a:defRPr>
            </a:lvl1pPr>
          </a:lstStyle>
          <a:p>
            <a:pPr/>
            <a:r>
              <a:t>Exploratory Data Analysis — Bootcamp Data Science + IA (The Bridge)</a:t>
            </a:r>
          </a:p>
        </p:txBody>
      </p:sp>
      <p:sp>
        <p:nvSpPr>
          <p:cNvPr id="26" name="Text 7"/>
          <p:cNvSpPr txBox="1"/>
          <p:nvPr/>
        </p:nvSpPr>
        <p:spPr>
          <a:xfrm>
            <a:off x="457200" y="4447847"/>
            <a:ext cx="18288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0A8B8"/>
                </a:solidFill>
              </a:defRPr>
            </a:lvl1pPr>
          </a:lstStyle>
          <a:p>
            <a:pPr/>
            <a:r>
              <a:t>April 2025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4307178" y="4447847"/>
            <a:ext cx="1828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0A8B8"/>
                </a:solidFill>
              </a:defRPr>
            </a:lvl1pPr>
          </a:lstStyle>
          <a:p>
            <a:pPr/>
            <a:r>
              <a:t>Gian Marco Assandria</a:t>
            </a:r>
          </a:p>
        </p:txBody>
      </p:sp>
      <p:pic>
        <p:nvPicPr>
          <p:cNvPr id="28" name="London-Marathon-2022-Logo-Vector.svg-.png" descr="London-Marathon-2022-Logo-Vector.svg-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10281" y="2841624"/>
            <a:ext cx="1979139" cy="7072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6350">
            <a:solidFill>
              <a:srgbClr val="94FC6C"/>
            </a:solidFill>
            <a:miter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Text 1"/>
          <p:cNvSpPr txBox="1"/>
          <p:nvPr/>
        </p:nvSpPr>
        <p:spPr>
          <a:xfrm>
            <a:off x="457200" y="568959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Contexto y Objetivo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" name="Shape 3"/>
          <p:cNvSpPr/>
          <p:nvPr/>
        </p:nvSpPr>
        <p:spPr>
          <a:xfrm>
            <a:off x="365759" y="1280160"/>
            <a:ext cx="3931922" cy="3200401"/>
          </a:xfrm>
          <a:prstGeom prst="rect">
            <a:avLst/>
          </a:prstGeom>
          <a:solidFill>
            <a:srgbClr val="16213E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94FC6C"/>
                </a:solidFill>
              </a:defRPr>
            </a:pPr>
          </a:p>
        </p:txBody>
      </p:sp>
      <p:sp>
        <p:nvSpPr>
          <p:cNvPr id="34" name="Text 4"/>
          <p:cNvSpPr txBox="1"/>
          <p:nvPr/>
        </p:nvSpPr>
        <p:spPr>
          <a:xfrm>
            <a:off x="548639" y="1522729"/>
            <a:ext cx="356616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Contexto</a:t>
            </a:r>
          </a:p>
        </p:txBody>
      </p:sp>
      <p:sp>
        <p:nvSpPr>
          <p:cNvPr id="35" name="Text 5"/>
          <p:cNvSpPr txBox="1"/>
          <p:nvPr/>
        </p:nvSpPr>
        <p:spPr>
          <a:xfrm>
            <a:off x="548641" y="1911477"/>
            <a:ext cx="3566160" cy="244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A0A8B8"/>
                </a:solidFill>
              </a:defRPr>
            </a:pPr>
            <a:r>
              <a:t>Los World Marathon Majors son las 7 maratones de referencia mundial:</a:t>
            </a:r>
          </a:p>
          <a:p>
            <a:pPr>
              <a:defRPr sz="1200">
                <a:solidFill>
                  <a:srgbClr val="A0A8B8"/>
                </a:solidFill>
              </a:defRPr>
            </a:pPr>
          </a:p>
          <a:p>
            <a:pPr>
              <a:defRPr i="1" sz="1200">
                <a:solidFill>
                  <a:srgbClr val="E8E8E8"/>
                </a:solidFill>
              </a:defRPr>
            </a:pPr>
            <a:r>
              <a:t>· </a:t>
            </a:r>
            <a:r>
              <a:t>Tokyo</a:t>
            </a:r>
          </a:p>
          <a:p>
            <a:pPr>
              <a:defRPr i="1" sz="1200">
                <a:solidFill>
                  <a:srgbClr val="E8E8E8"/>
                </a:solidFill>
              </a:defRPr>
            </a:pPr>
            <a:r>
              <a:t>· Boston</a:t>
            </a:r>
          </a:p>
          <a:p>
            <a:pPr>
              <a:defRPr i="1" sz="1200">
                <a:solidFill>
                  <a:srgbClr val="E8E8E8"/>
                </a:solidFill>
              </a:defRPr>
            </a:pPr>
            <a:r>
              <a:t>· Londres</a:t>
            </a:r>
          </a:p>
          <a:p>
            <a:pPr>
              <a:defRPr i="1" sz="1200">
                <a:solidFill>
                  <a:srgbClr val="E8E8E8"/>
                </a:solidFill>
              </a:defRPr>
            </a:pPr>
            <a:r>
              <a:t>· Berlín</a:t>
            </a:r>
          </a:p>
          <a:p>
            <a:pPr>
              <a:defRPr i="1" sz="1200">
                <a:solidFill>
                  <a:srgbClr val="E8E8E8"/>
                </a:solidFill>
              </a:defRPr>
            </a:pPr>
            <a:r>
              <a:t>· Chicago</a:t>
            </a:r>
          </a:p>
          <a:p>
            <a:pPr>
              <a:defRPr i="1" sz="1200">
                <a:solidFill>
                  <a:srgbClr val="E8E8E8"/>
                </a:solidFill>
              </a:defRPr>
            </a:pPr>
            <a:r>
              <a:t>· Nueva York</a:t>
            </a:r>
          </a:p>
          <a:p>
            <a:pPr>
              <a:defRPr i="1" sz="1200">
                <a:solidFill>
                  <a:srgbClr val="E8E8E8"/>
                </a:solidFill>
              </a:defRPr>
            </a:pPr>
            <a:r>
              <a:t>· Sydney</a:t>
            </a:r>
          </a:p>
          <a:p>
            <a:pPr>
              <a:defRPr sz="1200"/>
            </a:pPr>
          </a:p>
          <a:p>
            <a:pPr>
              <a:defRPr sz="1200">
                <a:solidFill>
                  <a:srgbClr val="A0A8B8"/>
                </a:solidFill>
              </a:defRPr>
            </a:pPr>
            <a:r>
              <a:t>Combinando más de 300.000 participantes anuales y datos de élite y amateur.</a:t>
            </a:r>
          </a:p>
        </p:txBody>
      </p:sp>
      <p:sp>
        <p:nvSpPr>
          <p:cNvPr id="36" name="Shape 6"/>
          <p:cNvSpPr/>
          <p:nvPr/>
        </p:nvSpPr>
        <p:spPr>
          <a:xfrm>
            <a:off x="4846320" y="1280160"/>
            <a:ext cx="3931921" cy="3200401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7" name="Text 7"/>
          <p:cNvSpPr txBox="1"/>
          <p:nvPr/>
        </p:nvSpPr>
        <p:spPr>
          <a:xfrm>
            <a:off x="5029200" y="1522729"/>
            <a:ext cx="356616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Objetivo</a:t>
            </a:r>
          </a:p>
        </p:txBody>
      </p:sp>
      <p:sp>
        <p:nvSpPr>
          <p:cNvPr id="38" name="Text 8"/>
          <p:cNvSpPr txBox="1"/>
          <p:nvPr/>
        </p:nvSpPr>
        <p:spPr>
          <a:xfrm>
            <a:off x="5029200" y="1965960"/>
            <a:ext cx="3566160" cy="1490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A0A8B8"/>
                </a:solidFill>
              </a:defRPr>
            </a:pPr>
            <a:r>
              <a:t>Identificar qué factores influyen más en el rendimiento y la dificultad:</a:t>
            </a:r>
          </a:p>
          <a:p>
            <a:pPr>
              <a:defRPr sz="1200"/>
            </a:pPr>
          </a:p>
          <a:p>
            <a:pPr>
              <a:defRPr sz="1200">
                <a:solidFill>
                  <a:srgbClr val="A0A8B8"/>
                </a:solidFill>
              </a:defRPr>
            </a:pPr>
            <a:r>
              <a:t>• Altimetría del recorrido</a:t>
            </a:r>
          </a:p>
          <a:p>
            <a:pPr>
              <a:defRPr sz="1200">
                <a:solidFill>
                  <a:srgbClr val="A0A8B8"/>
                </a:solidFill>
              </a:defRPr>
            </a:pPr>
            <a:r>
              <a:t>• Temperatura y condiciones climáticas</a:t>
            </a:r>
          </a:p>
          <a:p>
            <a:pPr>
              <a:defRPr sz="1200">
                <a:solidFill>
                  <a:srgbClr val="A0A8B8"/>
                </a:solidFill>
              </a:defRPr>
            </a:pPr>
            <a:r>
              <a:t>• Popularidad vs rendimiento</a:t>
            </a:r>
          </a:p>
          <a:p>
            <a:pPr>
              <a:defRPr sz="1200">
                <a:solidFill>
                  <a:srgbClr val="A0A8B8"/>
                </a:solidFill>
              </a:defRPr>
            </a:pPr>
            <a:r>
              <a:t>• Élite vs corredores amateur</a:t>
            </a:r>
          </a:p>
          <a:p>
            <a:pPr>
              <a:defRPr sz="1200">
                <a:solidFill>
                  <a:srgbClr val="A0A8B8"/>
                </a:solidFill>
              </a:defRPr>
            </a:pPr>
            <a:r>
              <a:t>• Edad y rendimiento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"/>
          <p:cNvSpPr txBox="1"/>
          <p:nvPr/>
        </p:nvSpPr>
        <p:spPr>
          <a:xfrm>
            <a:off x="457200" y="568959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Datos y Metodología</a:t>
            </a:r>
          </a:p>
        </p:txBody>
      </p:sp>
      <p:sp>
        <p:nvSpPr>
          <p:cNvPr id="42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3" name="Shape 3"/>
          <p:cNvSpPr/>
          <p:nvPr/>
        </p:nvSpPr>
        <p:spPr>
          <a:xfrm>
            <a:off x="365759" y="1280159"/>
            <a:ext cx="2651762" cy="3291842"/>
          </a:xfrm>
          <a:prstGeom prst="rect">
            <a:avLst/>
          </a:prstGeom>
          <a:solidFill>
            <a:srgbClr val="16213E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Text 5"/>
          <p:cNvSpPr txBox="1"/>
          <p:nvPr/>
        </p:nvSpPr>
        <p:spPr>
          <a:xfrm>
            <a:off x="457199" y="2263139"/>
            <a:ext cx="24688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Dataset Majors</a:t>
            </a:r>
          </a:p>
        </p:txBody>
      </p:sp>
      <p:sp>
        <p:nvSpPr>
          <p:cNvPr id="45" name="Text 6"/>
          <p:cNvSpPr txBox="1"/>
          <p:nvPr/>
        </p:nvSpPr>
        <p:spPr>
          <a:xfrm>
            <a:off x="502919" y="2651760"/>
            <a:ext cx="237744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100">
                <a:solidFill>
                  <a:srgbClr val="A0A8B8"/>
                </a:solidFill>
              </a:defRPr>
            </a:pPr>
            <a:r>
              <a:t>7 maratones · 2025</a:t>
            </a:r>
          </a:p>
          <a:p>
            <a:pPr algn="ctr">
              <a:defRPr sz="1100">
                <a:solidFill>
                  <a:srgbClr val="A0A8B8"/>
                </a:solidFill>
              </a:defRPr>
            </a:pPr>
            <a:r>
              <a:t>Introducción manual</a:t>
            </a:r>
          </a:p>
          <a:p>
            <a:pPr algn="ctr">
              <a:defRPr sz="1100">
                <a:solidFill>
                  <a:srgbClr val="A0A8B8"/>
                </a:solidFill>
              </a:defRPr>
            </a:pPr>
            <a:r>
              <a:t>Fuentes oficiales</a:t>
            </a:r>
          </a:p>
        </p:txBody>
      </p:sp>
      <p:sp>
        <p:nvSpPr>
          <p:cNvPr id="46" name="Shape 7"/>
          <p:cNvSpPr/>
          <p:nvPr/>
        </p:nvSpPr>
        <p:spPr>
          <a:xfrm>
            <a:off x="3246120" y="1280159"/>
            <a:ext cx="2651761" cy="3291842"/>
          </a:xfrm>
          <a:prstGeom prst="rect">
            <a:avLst/>
          </a:prstGeom>
          <a:solidFill>
            <a:srgbClr val="16213E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" name="Text 9"/>
          <p:cNvSpPr txBox="1"/>
          <p:nvPr/>
        </p:nvSpPr>
        <p:spPr>
          <a:xfrm>
            <a:off x="3337559" y="2263139"/>
            <a:ext cx="2468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Web Scraping</a:t>
            </a:r>
          </a:p>
        </p:txBody>
      </p:sp>
      <p:sp>
        <p:nvSpPr>
          <p:cNvPr id="48" name="Text 10"/>
          <p:cNvSpPr txBox="1"/>
          <p:nvPr/>
        </p:nvSpPr>
        <p:spPr>
          <a:xfrm>
            <a:off x="3383279" y="2651760"/>
            <a:ext cx="237744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100">
                <a:solidFill>
                  <a:srgbClr val="A0A8B8"/>
                </a:solidFill>
              </a:defRPr>
            </a:pPr>
            <a:r>
              <a:t> - Londres 2021–2025</a:t>
            </a:r>
          </a:p>
          <a:p>
            <a:pPr algn="ctr">
              <a:defRPr sz="1100">
                <a:solidFill>
                  <a:srgbClr val="A0A8B8"/>
                </a:solidFill>
              </a:defRPr>
            </a:pPr>
            <a:r>
              <a:t>Scraping de resultados</a:t>
            </a:r>
          </a:p>
          <a:p>
            <a:pPr algn="ctr">
              <a:defRPr sz="1100">
                <a:solidFill>
                  <a:srgbClr val="A0A8B8"/>
                </a:solidFill>
              </a:defRPr>
            </a:pPr>
            <a:r>
              <a:t>Página oficial TCS</a:t>
            </a:r>
          </a:p>
          <a:p>
            <a:pPr algn="ctr">
              <a:defRPr sz="1100">
                <a:solidFill>
                  <a:srgbClr val="A0A8B8"/>
                </a:solidFill>
              </a:defRPr>
            </a:pPr>
            <a:r>
              <a:t>- API Open Meteo 2021-2025 </a:t>
            </a:r>
          </a:p>
          <a:p>
            <a:pPr algn="ctr">
              <a:defRPr sz="1100">
                <a:solidFill>
                  <a:srgbClr val="A0A8B8"/>
                </a:solidFill>
              </a:defRPr>
            </a:pPr>
            <a:r>
              <a:t>Scraping de temperaturas diarias</a:t>
            </a:r>
          </a:p>
        </p:txBody>
      </p:sp>
      <p:sp>
        <p:nvSpPr>
          <p:cNvPr id="49" name="Shape 11"/>
          <p:cNvSpPr/>
          <p:nvPr/>
        </p:nvSpPr>
        <p:spPr>
          <a:xfrm>
            <a:off x="6126479" y="1280159"/>
            <a:ext cx="2651761" cy="3291842"/>
          </a:xfrm>
          <a:prstGeom prst="rect">
            <a:avLst/>
          </a:prstGeom>
          <a:solidFill>
            <a:srgbClr val="16213E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" name="Text 13"/>
          <p:cNvSpPr txBox="1"/>
          <p:nvPr/>
        </p:nvSpPr>
        <p:spPr>
          <a:xfrm>
            <a:off x="6217920" y="2263139"/>
            <a:ext cx="24688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Análisis</a:t>
            </a:r>
          </a:p>
        </p:txBody>
      </p:sp>
      <p:sp>
        <p:nvSpPr>
          <p:cNvPr id="51" name="Text 14"/>
          <p:cNvSpPr txBox="1"/>
          <p:nvPr/>
        </p:nvSpPr>
        <p:spPr>
          <a:xfrm>
            <a:off x="6263640" y="2651760"/>
            <a:ext cx="237744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100">
                <a:solidFill>
                  <a:srgbClr val="A0A8B8"/>
                </a:solidFill>
              </a:defRPr>
            </a:pPr>
            <a:r>
              <a:t>Pandas + Seaborn</a:t>
            </a:r>
          </a:p>
          <a:p>
            <a:pPr algn="ctr">
              <a:defRPr sz="1100">
                <a:solidFill>
                  <a:srgbClr val="A0A8B8"/>
                </a:solidFill>
              </a:defRPr>
            </a:pPr>
            <a:r>
              <a:t>Tests estadísticos</a:t>
            </a:r>
          </a:p>
          <a:p>
            <a:pPr algn="ctr">
              <a:defRPr sz="1100">
                <a:solidFill>
                  <a:srgbClr val="A0A8B8"/>
                </a:solidFill>
              </a:defRPr>
            </a:pPr>
            <a:r>
              <a:t>Pearson · T-test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"/>
          <p:cNvSpPr txBox="1"/>
          <p:nvPr/>
        </p:nvSpPr>
        <p:spPr>
          <a:xfrm>
            <a:off x="457200" y="568959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Hipótesis del Proyecto</a:t>
            </a:r>
          </a:p>
        </p:txBody>
      </p:sp>
      <p:sp>
        <p:nvSpPr>
          <p:cNvPr id="55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6" name="Shape 3"/>
          <p:cNvSpPr/>
          <p:nvPr/>
        </p:nvSpPr>
        <p:spPr>
          <a:xfrm>
            <a:off x="365759" y="1234439"/>
            <a:ext cx="4114801" cy="9144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" name="Shape 4"/>
          <p:cNvSpPr/>
          <p:nvPr/>
        </p:nvSpPr>
        <p:spPr>
          <a:xfrm>
            <a:off x="365759" y="1234439"/>
            <a:ext cx="457201" cy="914401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5"/>
          <p:cNvSpPr txBox="1"/>
          <p:nvPr/>
        </p:nvSpPr>
        <p:spPr>
          <a:xfrm>
            <a:off x="365759" y="1596389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H1</a:t>
            </a:r>
          </a:p>
        </p:txBody>
      </p:sp>
      <p:sp>
        <p:nvSpPr>
          <p:cNvPr id="59" name="Text 6"/>
          <p:cNvSpPr txBox="1"/>
          <p:nvPr/>
        </p:nvSpPr>
        <p:spPr>
          <a:xfrm>
            <a:off x="914400" y="1564639"/>
            <a:ext cx="34747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8E8E8"/>
                </a:solidFill>
              </a:defRPr>
            </a:lvl1pPr>
          </a:lstStyle>
          <a:p>
            <a:pPr/>
            <a:r>
              <a:t>⛰️  Mayor altimetría → tiempos más lentos</a:t>
            </a:r>
          </a:p>
        </p:txBody>
      </p:sp>
      <p:sp>
        <p:nvSpPr>
          <p:cNvPr id="60" name="Shape 7"/>
          <p:cNvSpPr/>
          <p:nvPr/>
        </p:nvSpPr>
        <p:spPr>
          <a:xfrm>
            <a:off x="365759" y="2331720"/>
            <a:ext cx="4114801" cy="9144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" name="Shape 8"/>
          <p:cNvSpPr/>
          <p:nvPr/>
        </p:nvSpPr>
        <p:spPr>
          <a:xfrm>
            <a:off x="365759" y="2331720"/>
            <a:ext cx="457201" cy="914401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9"/>
          <p:cNvSpPr txBox="1"/>
          <p:nvPr/>
        </p:nvSpPr>
        <p:spPr>
          <a:xfrm>
            <a:off x="365759" y="2693670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H2</a:t>
            </a:r>
          </a:p>
        </p:txBody>
      </p:sp>
      <p:sp>
        <p:nvSpPr>
          <p:cNvPr id="63" name="Text 10"/>
          <p:cNvSpPr txBox="1"/>
          <p:nvPr/>
        </p:nvSpPr>
        <p:spPr>
          <a:xfrm>
            <a:off x="914400" y="2661920"/>
            <a:ext cx="34747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8E8E8"/>
                </a:solidFill>
              </a:defRPr>
            </a:lvl1pPr>
          </a:lstStyle>
          <a:p>
            <a:pPr/>
            <a:r>
              <a:t>🌡️  Mayor temperatura → peor rendimiento</a:t>
            </a:r>
          </a:p>
        </p:txBody>
      </p:sp>
      <p:sp>
        <p:nvSpPr>
          <p:cNvPr id="64" name="Shape 11"/>
          <p:cNvSpPr/>
          <p:nvPr/>
        </p:nvSpPr>
        <p:spPr>
          <a:xfrm>
            <a:off x="365759" y="3429000"/>
            <a:ext cx="4114801" cy="91440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" name="Shape 12"/>
          <p:cNvSpPr/>
          <p:nvPr/>
        </p:nvSpPr>
        <p:spPr>
          <a:xfrm>
            <a:off x="365759" y="3429000"/>
            <a:ext cx="457201" cy="914400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3"/>
          <p:cNvSpPr txBox="1"/>
          <p:nvPr/>
        </p:nvSpPr>
        <p:spPr>
          <a:xfrm>
            <a:off x="365759" y="3790950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H3</a:t>
            </a:r>
          </a:p>
        </p:txBody>
      </p:sp>
      <p:sp>
        <p:nvSpPr>
          <p:cNvPr id="67" name="Text 14"/>
          <p:cNvSpPr txBox="1"/>
          <p:nvPr/>
        </p:nvSpPr>
        <p:spPr>
          <a:xfrm>
            <a:off x="914400" y="3759199"/>
            <a:ext cx="34747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8E8E8"/>
                </a:solidFill>
              </a:defRPr>
            </a:lvl1pPr>
          </a:lstStyle>
          <a:p>
            <a:pPr/>
            <a:r>
              <a:t>👥  Popularidad ≠ rendimiento</a:t>
            </a:r>
          </a:p>
        </p:txBody>
      </p:sp>
      <p:sp>
        <p:nvSpPr>
          <p:cNvPr id="68" name="Shape 15"/>
          <p:cNvSpPr/>
          <p:nvPr/>
        </p:nvSpPr>
        <p:spPr>
          <a:xfrm>
            <a:off x="4846320" y="1234439"/>
            <a:ext cx="4114801" cy="9144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" name="Shape 16"/>
          <p:cNvSpPr/>
          <p:nvPr/>
        </p:nvSpPr>
        <p:spPr>
          <a:xfrm>
            <a:off x="4846320" y="1234439"/>
            <a:ext cx="457201" cy="914401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7"/>
          <p:cNvSpPr txBox="1"/>
          <p:nvPr/>
        </p:nvSpPr>
        <p:spPr>
          <a:xfrm>
            <a:off x="4846320" y="1596389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H4</a:t>
            </a:r>
          </a:p>
        </p:txBody>
      </p:sp>
      <p:sp>
        <p:nvSpPr>
          <p:cNvPr id="71" name="Text 18"/>
          <p:cNvSpPr txBox="1"/>
          <p:nvPr/>
        </p:nvSpPr>
        <p:spPr>
          <a:xfrm>
            <a:off x="5394959" y="1564639"/>
            <a:ext cx="34747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8E8E8"/>
                </a:solidFill>
              </a:defRPr>
            </a:lvl1pPr>
          </a:lstStyle>
          <a:p>
            <a:pPr/>
            <a:r>
              <a:t>🏅  Élite vs amateur: brecha significativa</a:t>
            </a:r>
          </a:p>
        </p:txBody>
      </p:sp>
      <p:sp>
        <p:nvSpPr>
          <p:cNvPr id="72" name="Shape 19"/>
          <p:cNvSpPr/>
          <p:nvPr/>
        </p:nvSpPr>
        <p:spPr>
          <a:xfrm>
            <a:off x="4846320" y="2331720"/>
            <a:ext cx="4114801" cy="9144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" name="Shape 20"/>
          <p:cNvSpPr/>
          <p:nvPr/>
        </p:nvSpPr>
        <p:spPr>
          <a:xfrm>
            <a:off x="4846320" y="2331720"/>
            <a:ext cx="457201" cy="914401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21"/>
          <p:cNvSpPr txBox="1"/>
          <p:nvPr/>
        </p:nvSpPr>
        <p:spPr>
          <a:xfrm>
            <a:off x="4846320" y="2693670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H5</a:t>
            </a:r>
          </a:p>
        </p:txBody>
      </p:sp>
      <p:sp>
        <p:nvSpPr>
          <p:cNvPr id="75" name="Text 22"/>
          <p:cNvSpPr txBox="1"/>
          <p:nvPr/>
        </p:nvSpPr>
        <p:spPr>
          <a:xfrm>
            <a:off x="5394959" y="2661920"/>
            <a:ext cx="34747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8E8E8"/>
                </a:solidFill>
              </a:defRPr>
            </a:lvl1pPr>
          </a:lstStyle>
          <a:p>
            <a:pPr/>
            <a:r>
              <a:t>📅  Mayor edad → tiempos más lentos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1"/>
          <p:cNvSpPr txBox="1"/>
          <p:nvPr/>
        </p:nvSpPr>
        <p:spPr>
          <a:xfrm>
            <a:off x="457200" y="409108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Participación y Tasa de Finalización</a:t>
            </a:r>
          </a:p>
        </p:txBody>
      </p:sp>
      <p:sp>
        <p:nvSpPr>
          <p:cNvPr id="79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0" name="Shape 3"/>
          <p:cNvSpPr/>
          <p:nvPr/>
        </p:nvSpPr>
        <p:spPr>
          <a:xfrm>
            <a:off x="5997174" y="1156798"/>
            <a:ext cx="2743201" cy="1234441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" name="Text 4"/>
          <p:cNvSpPr txBox="1"/>
          <p:nvPr/>
        </p:nvSpPr>
        <p:spPr>
          <a:xfrm>
            <a:off x="5997174" y="1255858"/>
            <a:ext cx="2743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840.318</a:t>
            </a:r>
          </a:p>
        </p:txBody>
      </p:sp>
      <p:sp>
        <p:nvSpPr>
          <p:cNvPr id="82" name="Text 5"/>
          <p:cNvSpPr txBox="1"/>
          <p:nvPr/>
        </p:nvSpPr>
        <p:spPr>
          <a:xfrm>
            <a:off x="5997174" y="1981204"/>
            <a:ext cx="27432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1A1A2E"/>
                </a:solidFill>
              </a:defRPr>
            </a:lvl1pPr>
          </a:lstStyle>
          <a:p>
            <a:pPr/>
            <a:r>
              <a:t>solicitudes a Londres 2025</a:t>
            </a:r>
          </a:p>
        </p:txBody>
      </p:sp>
      <p:sp>
        <p:nvSpPr>
          <p:cNvPr id="83" name="Shape 6"/>
          <p:cNvSpPr/>
          <p:nvPr/>
        </p:nvSpPr>
        <p:spPr>
          <a:xfrm>
            <a:off x="5997174" y="2530291"/>
            <a:ext cx="2743201" cy="1234441"/>
          </a:xfrm>
          <a:prstGeom prst="rect">
            <a:avLst/>
          </a:prstGeom>
          <a:solidFill>
            <a:srgbClr val="0F3460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5FDF47"/>
                </a:solidFill>
              </a:defRPr>
            </a:pPr>
          </a:p>
        </p:txBody>
      </p:sp>
      <p:sp>
        <p:nvSpPr>
          <p:cNvPr id="84" name="Text 7"/>
          <p:cNvSpPr txBox="1"/>
          <p:nvPr/>
        </p:nvSpPr>
        <p:spPr>
          <a:xfrm>
            <a:off x="5997174" y="2710631"/>
            <a:ext cx="2743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Boston ≠ resto</a:t>
            </a:r>
          </a:p>
        </p:txBody>
      </p:sp>
      <p:sp>
        <p:nvSpPr>
          <p:cNvPr id="85" name="Text 8"/>
          <p:cNvSpPr txBox="1"/>
          <p:nvPr/>
        </p:nvSpPr>
        <p:spPr>
          <a:xfrm>
            <a:off x="5997174" y="3203567"/>
            <a:ext cx="2743201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E8E8E8"/>
                </a:solidFill>
              </a:defRPr>
            </a:pPr>
            <a:r>
              <a:t>Acceso por qualifying time</a:t>
            </a:r>
          </a:p>
          <a:p>
            <a:pPr algn="ctr">
              <a:defRPr sz="1100">
                <a:solidFill>
                  <a:srgbClr val="E8E8E8"/>
                </a:solidFill>
              </a:defRPr>
            </a:pPr>
            <a:r>
              <a:t>→ sesgo de selección</a:t>
            </a:r>
          </a:p>
        </p:txBody>
      </p:sp>
      <p:sp>
        <p:nvSpPr>
          <p:cNvPr id="86" name="Shape 9"/>
          <p:cNvSpPr/>
          <p:nvPr/>
        </p:nvSpPr>
        <p:spPr>
          <a:xfrm>
            <a:off x="5997174" y="3895598"/>
            <a:ext cx="2743201" cy="822961"/>
          </a:xfrm>
          <a:prstGeom prst="rect">
            <a:avLst/>
          </a:prstGeom>
          <a:solidFill>
            <a:srgbClr val="16213E"/>
          </a:solidFill>
          <a:ln w="12700">
            <a:solidFill>
              <a:srgbClr val="A0A8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10"/>
          <p:cNvSpPr txBox="1"/>
          <p:nvPr/>
        </p:nvSpPr>
        <p:spPr>
          <a:xfrm>
            <a:off x="6188202" y="4155992"/>
            <a:ext cx="2361144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A0A8B8"/>
                </a:solidFill>
              </a:defRPr>
            </a:pPr>
            <a:r>
              <a:t>Berlín 2025: 87.3% finalización</a:t>
            </a:r>
          </a:p>
          <a:p>
            <a:pPr>
              <a:defRPr sz="1000">
                <a:solidFill>
                  <a:srgbClr val="A0A8B8"/>
                </a:solidFill>
              </a:defRPr>
            </a:pPr>
            <a:r>
              <a:t>(temperatura más alta registrada)</a:t>
            </a:r>
          </a:p>
        </p:txBody>
      </p:sp>
      <p:pic>
        <p:nvPicPr>
          <p:cNvPr id="88" name="Captura de pantalla 2026-04-02 a la(s) 4.46.24 p.m..png" descr="Captura de pantalla 2026-04-02 a la(s) 4.46.24 p.m.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4863" y="1439126"/>
            <a:ext cx="5268136" cy="28224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"/>
          <p:cNvSpPr txBox="1"/>
          <p:nvPr/>
        </p:nvSpPr>
        <p:spPr>
          <a:xfrm>
            <a:off x="457200" y="412750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H1: Altimetría → Rendimiento</a:t>
            </a:r>
          </a:p>
        </p:txBody>
      </p:sp>
      <p:sp>
        <p:nvSpPr>
          <p:cNvPr id="92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3" name="Shape 3"/>
          <p:cNvSpPr/>
          <p:nvPr/>
        </p:nvSpPr>
        <p:spPr>
          <a:xfrm>
            <a:off x="5943600" y="1097280"/>
            <a:ext cx="2834640" cy="1097281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" name="Shape 4"/>
          <p:cNvSpPr/>
          <p:nvPr/>
        </p:nvSpPr>
        <p:spPr>
          <a:xfrm>
            <a:off x="5943600" y="1097280"/>
            <a:ext cx="73153" cy="1097281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5"/>
          <p:cNvSpPr txBox="1"/>
          <p:nvPr/>
        </p:nvSpPr>
        <p:spPr>
          <a:xfrm>
            <a:off x="6126479" y="1366519"/>
            <a:ext cx="256032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E8E8E8"/>
                </a:solidFill>
              </a:defRPr>
            </a:pPr>
            <a:r>
              <a:t>✅  Berlín &amp; Chicago</a:t>
            </a:r>
          </a:p>
          <a:p>
            <a:pPr>
              <a:defRPr sz="1100">
                <a:solidFill>
                  <a:srgbClr val="E8E8E8"/>
                </a:solidFill>
              </a:defRPr>
            </a:pPr>
            <a:r>
              <a:t>(25-35m) → tiempos</a:t>
            </a:r>
          </a:p>
          <a:p>
            <a:pPr>
              <a:defRPr sz="1100">
                <a:solidFill>
                  <a:srgbClr val="E8E8E8"/>
                </a:solidFill>
              </a:defRPr>
            </a:pPr>
            <a:r>
              <a:t>de récord mundial</a:t>
            </a:r>
          </a:p>
        </p:txBody>
      </p:sp>
      <p:sp>
        <p:nvSpPr>
          <p:cNvPr id="96" name="Shape 6"/>
          <p:cNvSpPr/>
          <p:nvPr/>
        </p:nvSpPr>
        <p:spPr>
          <a:xfrm>
            <a:off x="5943600" y="2377439"/>
            <a:ext cx="2834640" cy="1097281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" name="Shape 7"/>
          <p:cNvSpPr/>
          <p:nvPr/>
        </p:nvSpPr>
        <p:spPr>
          <a:xfrm>
            <a:off x="5943600" y="2377439"/>
            <a:ext cx="73153" cy="1097281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8"/>
          <p:cNvSpPr txBox="1"/>
          <p:nvPr/>
        </p:nvSpPr>
        <p:spPr>
          <a:xfrm>
            <a:off x="6126479" y="2646679"/>
            <a:ext cx="256032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E8E8E8"/>
                </a:solidFill>
              </a:defRPr>
            </a:pPr>
            <a:r>
              <a:t>⚠️  Londres (127m)</a:t>
            </a:r>
          </a:p>
          <a:p>
            <a:pPr>
              <a:defRPr sz="1100">
                <a:solidFill>
                  <a:srgbClr val="E8E8E8"/>
                </a:solidFill>
              </a:defRPr>
            </a:pPr>
            <a:r>
              <a:t>condiciona a los</a:t>
            </a:r>
          </a:p>
          <a:p>
            <a:pPr>
              <a:defRPr sz="1100">
                <a:solidFill>
                  <a:srgbClr val="E8E8E8"/>
                </a:solidFill>
              </a:defRPr>
            </a:pPr>
            <a:r>
              <a:t>corredores de élite</a:t>
            </a:r>
          </a:p>
        </p:txBody>
      </p:sp>
      <p:sp>
        <p:nvSpPr>
          <p:cNvPr id="99" name="Shape 9"/>
          <p:cNvSpPr/>
          <p:nvPr/>
        </p:nvSpPr>
        <p:spPr>
          <a:xfrm>
            <a:off x="5943600" y="3657600"/>
            <a:ext cx="2834640" cy="1097281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Shape 10"/>
          <p:cNvSpPr/>
          <p:nvPr/>
        </p:nvSpPr>
        <p:spPr>
          <a:xfrm>
            <a:off x="5943600" y="3657600"/>
            <a:ext cx="73153" cy="1097281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1"/>
          <p:cNvSpPr txBox="1"/>
          <p:nvPr/>
        </p:nvSpPr>
        <p:spPr>
          <a:xfrm>
            <a:off x="6126479" y="3926839"/>
            <a:ext cx="256032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E8E8E8"/>
                </a:solidFill>
              </a:defRPr>
            </a:pPr>
            <a:r>
              <a:t>📈  NY, Boston, Sydney</a:t>
            </a:r>
          </a:p>
          <a:p>
            <a:pPr>
              <a:defRPr sz="1100">
                <a:solidFill>
                  <a:srgbClr val="E8E8E8"/>
                </a:solidFill>
              </a:defRPr>
            </a:pPr>
            <a:r>
              <a:t>(&gt;240m) muestran</a:t>
            </a:r>
          </a:p>
          <a:p>
            <a:pPr>
              <a:defRPr sz="1100">
                <a:solidFill>
                  <a:srgbClr val="E8E8E8"/>
                </a:solidFill>
              </a:defRPr>
            </a:pPr>
            <a:r>
              <a:t>los tiempos más lentos</a:t>
            </a:r>
          </a:p>
        </p:txBody>
      </p:sp>
      <p:pic>
        <p:nvPicPr>
          <p:cNvPr id="102" name="Captura de pantalla 2026-04-02 a la(s) 4.45.48 p.m..png" descr="Captura de pantalla 2026-04-02 a la(s) 4.45.48 p.m.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6131" y="1486276"/>
            <a:ext cx="4710391" cy="28796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1"/>
          <p:cNvSpPr txBox="1"/>
          <p:nvPr/>
        </p:nvSpPr>
        <p:spPr>
          <a:xfrm>
            <a:off x="457200" y="391414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H2: Temperatura → Rendimiento (Majors)</a:t>
            </a:r>
          </a:p>
        </p:txBody>
      </p:sp>
      <p:sp>
        <p:nvSpPr>
          <p:cNvPr id="106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7" name="Text 3"/>
          <p:cNvSpPr txBox="1"/>
          <p:nvPr/>
        </p:nvSpPr>
        <p:spPr>
          <a:xfrm>
            <a:off x="5669279" y="1220469"/>
            <a:ext cx="32004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100">
                <a:solidFill>
                  <a:srgbClr val="A0A8B8"/>
                </a:solidFill>
              </a:defRPr>
            </a:pPr>
            <a:r>
              <a:t>⚠️  Solo maratones planas (altimetría similar)</a:t>
            </a:r>
          </a:p>
          <a:p>
            <a:pPr>
              <a:defRPr i="1" sz="1100">
                <a:solidFill>
                  <a:srgbClr val="A0A8B8"/>
                </a:solidFill>
              </a:defRPr>
            </a:pPr>
            <a:r>
              <a:t>para aislar el efecto temperatura</a:t>
            </a:r>
          </a:p>
        </p:txBody>
      </p:sp>
      <p:sp>
        <p:nvSpPr>
          <p:cNvPr id="108" name="Shape 4"/>
          <p:cNvSpPr/>
          <p:nvPr/>
        </p:nvSpPr>
        <p:spPr>
          <a:xfrm>
            <a:off x="5669279" y="1920239"/>
            <a:ext cx="3200401" cy="1463042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" name="Text 5"/>
          <p:cNvSpPr txBox="1"/>
          <p:nvPr/>
        </p:nvSpPr>
        <p:spPr>
          <a:xfrm>
            <a:off x="5669279" y="2006600"/>
            <a:ext cx="3200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Berlín 2025</a:t>
            </a:r>
          </a:p>
        </p:txBody>
      </p:sp>
      <p:sp>
        <p:nvSpPr>
          <p:cNvPr id="110" name="Text 6"/>
          <p:cNvSpPr txBox="1"/>
          <p:nvPr/>
        </p:nvSpPr>
        <p:spPr>
          <a:xfrm>
            <a:off x="5669279" y="2565707"/>
            <a:ext cx="320040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1A1A2E"/>
                </a:solidFill>
              </a:defRPr>
            </a:pPr>
            <a:r>
              <a:t>19°C — temperatura más alta</a:t>
            </a:r>
          </a:p>
          <a:p>
            <a:pPr algn="ctr">
              <a:defRPr sz="1200">
                <a:solidFill>
                  <a:srgbClr val="1A1A2E"/>
                </a:solidFill>
              </a:defRPr>
            </a:pPr>
            <a:r>
              <a:t>registrada en la historia del maratón</a:t>
            </a:r>
          </a:p>
          <a:p>
            <a:pPr algn="ctr">
              <a:defRPr sz="1200">
                <a:solidFill>
                  <a:srgbClr val="1A1A2E"/>
                </a:solidFill>
              </a:defRPr>
            </a:pPr>
            <a:r>
              <a:t>→ solo 87.3% finalizaron</a:t>
            </a:r>
          </a:p>
        </p:txBody>
      </p:sp>
      <p:sp>
        <p:nvSpPr>
          <p:cNvPr id="111" name="Shape 7"/>
          <p:cNvSpPr/>
          <p:nvPr/>
        </p:nvSpPr>
        <p:spPr>
          <a:xfrm>
            <a:off x="5669279" y="3566159"/>
            <a:ext cx="3200401" cy="1097281"/>
          </a:xfrm>
          <a:prstGeom prst="rect">
            <a:avLst/>
          </a:prstGeom>
          <a:solidFill>
            <a:srgbClr val="16213E"/>
          </a:solidFill>
          <a:ln w="12700">
            <a:solidFill>
              <a:srgbClr val="A0A8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8"/>
          <p:cNvSpPr txBox="1"/>
          <p:nvPr/>
        </p:nvSpPr>
        <p:spPr>
          <a:xfrm>
            <a:off x="6340078" y="3881164"/>
            <a:ext cx="1858804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000">
                <a:solidFill>
                  <a:srgbClr val="A0A8B8"/>
                </a:solidFill>
              </a:defRPr>
            </a:pPr>
            <a:r>
              <a:t>Correlación Pearson (n=7)</a:t>
            </a:r>
          </a:p>
          <a:p>
            <a:pPr>
              <a:defRPr i="1" sz="1000">
                <a:solidFill>
                  <a:srgbClr val="A0A8B8"/>
                </a:solidFill>
              </a:defRPr>
            </a:pPr>
            <a:r>
              <a:t>es orientativa — tamaño muestral</a:t>
            </a:r>
          </a:p>
          <a:p>
            <a:pPr>
              <a:defRPr i="1" sz="1000">
                <a:solidFill>
                  <a:srgbClr val="A0A8B8"/>
                </a:solidFill>
              </a:defRPr>
            </a:pPr>
            <a:r>
              <a:t>limitado en dataset Majors</a:t>
            </a:r>
          </a:p>
        </p:txBody>
      </p:sp>
      <p:pic>
        <p:nvPicPr>
          <p:cNvPr id="113" name="Captura de pantalla 2026-04-02 a la(s) 4.31.15 p.m..png" descr="Captura de pantalla 2026-04-02 a la(s) 4.31.15 p.m.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7379" y="1525565"/>
            <a:ext cx="4296018" cy="26181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1"/>
          <p:cNvSpPr txBox="1"/>
          <p:nvPr/>
        </p:nvSpPr>
        <p:spPr>
          <a:xfrm>
            <a:off x="457200" y="340359"/>
            <a:ext cx="8229600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7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H2: Temperatura → Rendimiento </a:t>
            </a:r>
          </a:p>
          <a:p>
            <a:pPr>
              <a:defRPr sz="27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(Londres individual)</a:t>
            </a:r>
          </a:p>
        </p:txBody>
      </p:sp>
      <p:sp>
        <p:nvSpPr>
          <p:cNvPr id="117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18" name="Shape 3"/>
          <p:cNvSpPr/>
          <p:nvPr/>
        </p:nvSpPr>
        <p:spPr>
          <a:xfrm>
            <a:off x="6126479" y="1097280"/>
            <a:ext cx="2743201" cy="1371601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" name="Text 4"/>
          <p:cNvSpPr txBox="1"/>
          <p:nvPr/>
        </p:nvSpPr>
        <p:spPr>
          <a:xfrm>
            <a:off x="6126479" y="1193799"/>
            <a:ext cx="27432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2022: 16°C</a:t>
            </a:r>
          </a:p>
        </p:txBody>
      </p:sp>
      <p:sp>
        <p:nvSpPr>
          <p:cNvPr id="120" name="Text 5"/>
          <p:cNvSpPr txBox="1"/>
          <p:nvPr/>
        </p:nvSpPr>
        <p:spPr>
          <a:xfrm>
            <a:off x="6126479" y="1792277"/>
            <a:ext cx="274320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Tiempo medio más alto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→ 4h 48min aprox.</a:t>
            </a:r>
          </a:p>
        </p:txBody>
      </p:sp>
      <p:sp>
        <p:nvSpPr>
          <p:cNvPr id="121" name="Shape 6"/>
          <p:cNvSpPr/>
          <p:nvPr/>
        </p:nvSpPr>
        <p:spPr>
          <a:xfrm>
            <a:off x="6126479" y="2651760"/>
            <a:ext cx="2743201" cy="2011679"/>
          </a:xfrm>
          <a:prstGeom prst="rect">
            <a:avLst/>
          </a:prstGeom>
          <a:solidFill>
            <a:srgbClr val="16213E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Text 7"/>
          <p:cNvSpPr txBox="1"/>
          <p:nvPr/>
        </p:nvSpPr>
        <p:spPr>
          <a:xfrm>
            <a:off x="6126479" y="2782569"/>
            <a:ext cx="2743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Pearson individual</a:t>
            </a:r>
          </a:p>
        </p:txBody>
      </p:sp>
      <p:sp>
        <p:nvSpPr>
          <p:cNvPr id="123" name="Text 8"/>
          <p:cNvSpPr txBox="1"/>
          <p:nvPr/>
        </p:nvSpPr>
        <p:spPr>
          <a:xfrm>
            <a:off x="6172200" y="3336289"/>
            <a:ext cx="2651761" cy="10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E8E8E8"/>
                </a:solidFill>
              </a:defRPr>
            </a:pPr>
            <a:r>
              <a:t>N = miles de corredores</a:t>
            </a:r>
          </a:p>
          <a:p>
            <a:pPr algn="ctr">
              <a:defRPr sz="1100">
                <a:solidFill>
                  <a:srgbClr val="E8E8E8"/>
                </a:solidFill>
              </a:defRPr>
            </a:pPr>
            <a:r>
              <a:t>r &gt; 0 (positivo)</a:t>
            </a:r>
          </a:p>
          <a:p>
            <a:pPr algn="ctr">
              <a:defRPr sz="1100">
                <a:solidFill>
                  <a:srgbClr val="E8E8E8"/>
                </a:solidFill>
              </a:defRPr>
            </a:pPr>
            <a:r>
              <a:t>p &lt; 0.05 ✅</a:t>
            </a:r>
          </a:p>
          <a:p>
            <a:pPr algn="ctr">
              <a:defRPr sz="1100"/>
            </a:pPr>
          </a:p>
          <a:p>
            <a:pPr algn="ctr">
              <a:defRPr sz="1100">
                <a:solidFill>
                  <a:srgbClr val="E8E8E8"/>
                </a:solidFill>
              </a:defRPr>
            </a:pPr>
            <a:r>
              <a:t>Mayor temperatura</a:t>
            </a:r>
          </a:p>
          <a:p>
            <a:pPr algn="ctr">
              <a:defRPr sz="1100">
                <a:solidFill>
                  <a:srgbClr val="E8E8E8"/>
                </a:solidFill>
              </a:defRPr>
            </a:pPr>
            <a:r>
              <a:t>→ tiempos más lentos</a:t>
            </a:r>
          </a:p>
        </p:txBody>
      </p:sp>
      <p:pic>
        <p:nvPicPr>
          <p:cNvPr id="124" name="Captura de pantalla 2026-04-02 a la(s) 3.56.49 p.m..png" descr="Captura de pantalla 2026-04-02 a la(s) 3.56.49 p.m.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0276" y="1575561"/>
            <a:ext cx="4212211" cy="29366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"/>
          <p:cNvSpPr txBox="1"/>
          <p:nvPr/>
        </p:nvSpPr>
        <p:spPr>
          <a:xfrm>
            <a:off x="457200" y="351091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H3: Popularidad ≠ Rendimiento</a:t>
            </a:r>
          </a:p>
        </p:txBody>
      </p:sp>
      <p:sp>
        <p:nvSpPr>
          <p:cNvPr id="128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9</a:t>
            </a:r>
          </a:p>
        </p:txBody>
      </p:sp>
      <p:graphicFrame>
        <p:nvGraphicFramePr>
          <p:cNvPr id="129" name="Table 0"/>
          <p:cNvGraphicFramePr/>
          <p:nvPr/>
        </p:nvGraphicFramePr>
        <p:xfrm>
          <a:off x="365759" y="1143000"/>
          <a:ext cx="7498082" cy="3218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37360"/>
                <a:gridCol w="1737360"/>
                <a:gridCol w="2011679"/>
                <a:gridCol w="2011679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Maratón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Solicitudes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Tiempo élite ♂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Tiempo élite ♀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F346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Londres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6B35"/>
                          </a:solidFill>
                        </a:rPr>
                        <a:t>840.318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2:02:27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2:15:50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Chicago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160.000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ECC71"/>
                          </a:solidFill>
                        </a:rPr>
                        <a:t>2:02:23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2ECC71"/>
                          </a:solidFill>
                        </a:rPr>
                        <a:t>2:14:57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Berlín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170.000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6B35"/>
                          </a:solidFill>
                        </a:rPr>
                        <a:t>2:02:16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2:21:08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New York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200.000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74C3C"/>
                          </a:solidFill>
                        </a:rPr>
                        <a:t>2:08:09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2:19:51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Tokyo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300.000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2:03:23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2:16:31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Boston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A0A8B8"/>
                          </a:solidFill>
                        </a:rPr>
                        <a:t>36.393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2:04:45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2:17:22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0D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Sydney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79.000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2:06:06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E8E8E8"/>
                          </a:solidFill>
                        </a:rPr>
                        <a:t>2:18:22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E"/>
                      </a:solidFill>
                    </a:lnL>
                    <a:lnR w="6350">
                      <a:solidFill>
                        <a:srgbClr val="2A2A4E"/>
                      </a:solidFill>
                    </a:lnR>
                    <a:lnT w="6350">
                      <a:solidFill>
                        <a:srgbClr val="2A2A4E"/>
                      </a:solidFill>
                    </a:lnT>
                    <a:lnB w="6350">
                      <a:solidFill>
                        <a:srgbClr val="2A2A4E"/>
                      </a:solidFill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1"/>
          <p:cNvSpPr txBox="1"/>
          <p:nvPr/>
        </p:nvSpPr>
        <p:spPr>
          <a:xfrm>
            <a:off x="457200" y="529589"/>
            <a:ext cx="822960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H4: Élite vs Amateur — Brecha Significativa</a:t>
            </a:r>
          </a:p>
        </p:txBody>
      </p:sp>
      <p:sp>
        <p:nvSpPr>
          <p:cNvPr id="133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34" name="Shape 3"/>
          <p:cNvSpPr/>
          <p:nvPr/>
        </p:nvSpPr>
        <p:spPr>
          <a:xfrm>
            <a:off x="574240" y="1371600"/>
            <a:ext cx="3514960" cy="1737361"/>
          </a:xfrm>
          <a:prstGeom prst="rect">
            <a:avLst/>
          </a:prstGeom>
          <a:solidFill>
            <a:srgbClr val="0F3460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" name="Text 4"/>
          <p:cNvSpPr txBox="1"/>
          <p:nvPr/>
        </p:nvSpPr>
        <p:spPr>
          <a:xfrm>
            <a:off x="294154" y="1471145"/>
            <a:ext cx="39319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🏅 ÉLITE</a:t>
            </a:r>
          </a:p>
        </p:txBody>
      </p:sp>
      <p:sp>
        <p:nvSpPr>
          <p:cNvPr id="136" name="Text 5"/>
          <p:cNvSpPr txBox="1"/>
          <p:nvPr/>
        </p:nvSpPr>
        <p:spPr>
          <a:xfrm>
            <a:off x="365759" y="1915622"/>
            <a:ext cx="393192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~2:02 – 2:10h</a:t>
            </a:r>
          </a:p>
        </p:txBody>
      </p:sp>
      <p:sp>
        <p:nvSpPr>
          <p:cNvPr id="137" name="Text 6"/>
          <p:cNvSpPr txBox="1"/>
          <p:nvPr/>
        </p:nvSpPr>
        <p:spPr>
          <a:xfrm>
            <a:off x="365759" y="2548301"/>
            <a:ext cx="3931922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>
                <a:solidFill>
                  <a:srgbClr val="E8E8E8"/>
                </a:solidFill>
              </a:defRPr>
            </a:pPr>
            <a:r>
              <a:t>Variabilidad muy baja</a:t>
            </a:r>
          </a:p>
          <a:p>
            <a:pPr algn="ctr">
              <a:defRPr sz="1300">
                <a:solidFill>
                  <a:srgbClr val="E8E8E8"/>
                </a:solidFill>
              </a:defRPr>
            </a:pPr>
            <a:r>
              <a:t>Grupo homogéneo</a:t>
            </a:r>
          </a:p>
        </p:txBody>
      </p:sp>
      <p:sp>
        <p:nvSpPr>
          <p:cNvPr id="138" name="Shape 7"/>
          <p:cNvSpPr/>
          <p:nvPr/>
        </p:nvSpPr>
        <p:spPr>
          <a:xfrm>
            <a:off x="5054800" y="1315483"/>
            <a:ext cx="3514960" cy="1849594"/>
          </a:xfrm>
          <a:prstGeom prst="rect">
            <a:avLst/>
          </a:prstGeom>
          <a:solidFill>
            <a:srgbClr val="16213E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" name="Text 8"/>
          <p:cNvSpPr txBox="1"/>
          <p:nvPr/>
        </p:nvSpPr>
        <p:spPr>
          <a:xfrm>
            <a:off x="4846320" y="1471145"/>
            <a:ext cx="393192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🏃 AMATEUR (Mass)</a:t>
            </a:r>
          </a:p>
        </p:txBody>
      </p:sp>
      <p:sp>
        <p:nvSpPr>
          <p:cNvPr id="140" name="Text 9"/>
          <p:cNvSpPr txBox="1"/>
          <p:nvPr/>
        </p:nvSpPr>
        <p:spPr>
          <a:xfrm>
            <a:off x="4846320" y="1915622"/>
            <a:ext cx="393192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~4:00 – 5:00h</a:t>
            </a:r>
          </a:p>
        </p:txBody>
      </p:sp>
      <p:sp>
        <p:nvSpPr>
          <p:cNvPr id="141" name="Text 10"/>
          <p:cNvSpPr txBox="1"/>
          <p:nvPr/>
        </p:nvSpPr>
        <p:spPr>
          <a:xfrm>
            <a:off x="4846320" y="2548301"/>
            <a:ext cx="393192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>
                <a:solidFill>
                  <a:srgbClr val="E8E8E8"/>
                </a:solidFill>
              </a:defRPr>
            </a:pPr>
            <a:r>
              <a:t>Alta variabilidad</a:t>
            </a:r>
          </a:p>
          <a:p>
            <a:pPr algn="ctr">
              <a:defRPr sz="1300">
                <a:solidFill>
                  <a:srgbClr val="E8E8E8"/>
                </a:solidFill>
              </a:defRPr>
            </a:pPr>
            <a:r>
              <a:t>Distribución asimétrica derecha</a:t>
            </a:r>
          </a:p>
        </p:txBody>
      </p:sp>
      <p:sp>
        <p:nvSpPr>
          <p:cNvPr id="142" name="Shape 11"/>
          <p:cNvSpPr/>
          <p:nvPr/>
        </p:nvSpPr>
        <p:spPr>
          <a:xfrm>
            <a:off x="365759" y="3474720"/>
            <a:ext cx="8412482" cy="1371601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5FDF47"/>
                </a:solidFill>
              </a:defRPr>
            </a:pPr>
          </a:p>
        </p:txBody>
      </p:sp>
      <p:sp>
        <p:nvSpPr>
          <p:cNvPr id="143" name="Text 12"/>
          <p:cNvSpPr txBox="1"/>
          <p:nvPr/>
        </p:nvSpPr>
        <p:spPr>
          <a:xfrm>
            <a:off x="365759" y="3639819"/>
            <a:ext cx="84124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Welch's t-test:  p &lt; 0.05  →  Se rechaza H0</a:t>
            </a:r>
          </a:p>
        </p:txBody>
      </p:sp>
      <p:sp>
        <p:nvSpPr>
          <p:cNvPr id="144" name="Text 13"/>
          <p:cNvSpPr txBox="1"/>
          <p:nvPr/>
        </p:nvSpPr>
        <p:spPr>
          <a:xfrm>
            <a:off x="365759" y="4305739"/>
            <a:ext cx="841248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A1A2E"/>
                </a:solidFill>
              </a:defRPr>
            </a:lvl1pPr>
          </a:lstStyle>
          <a:p>
            <a:pPr/>
            <a:r>
              <a:t>La diferencia es estadísticamente significativa — no es aleatoria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1"/>
          <p:cNvSpPr txBox="1"/>
          <p:nvPr/>
        </p:nvSpPr>
        <p:spPr>
          <a:xfrm>
            <a:off x="457200" y="491490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H5: Edad → Rendimiento</a:t>
            </a:r>
          </a:p>
        </p:txBody>
      </p:sp>
      <p:sp>
        <p:nvSpPr>
          <p:cNvPr id="148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49" name="Shape 3"/>
          <p:cNvSpPr/>
          <p:nvPr/>
        </p:nvSpPr>
        <p:spPr>
          <a:xfrm>
            <a:off x="6126479" y="1097280"/>
            <a:ext cx="2743201" cy="1645921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" name="Text 4"/>
          <p:cNvSpPr txBox="1"/>
          <p:nvPr/>
        </p:nvSpPr>
        <p:spPr>
          <a:xfrm>
            <a:off x="6126479" y="1211580"/>
            <a:ext cx="274320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3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T-test</a:t>
            </a:r>
          </a:p>
          <a:p>
            <a:pPr algn="ctr">
              <a:defRPr sz="13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Jóvenes (&lt;50) vs</a:t>
            </a:r>
          </a:p>
          <a:p>
            <a:pPr algn="ctr">
              <a:defRPr sz="1300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Mayores (50+)</a:t>
            </a:r>
          </a:p>
        </p:txBody>
      </p:sp>
      <p:sp>
        <p:nvSpPr>
          <p:cNvPr id="151" name="Text 5"/>
          <p:cNvSpPr txBox="1"/>
          <p:nvPr/>
        </p:nvSpPr>
        <p:spPr>
          <a:xfrm>
            <a:off x="6126479" y="2109469"/>
            <a:ext cx="274320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1A1A2E"/>
                </a:solidFill>
              </a:defRPr>
            </a:pPr>
            <a:r>
              <a:t>p &lt; 0.05 ✅</a:t>
            </a:r>
          </a:p>
          <a:p>
            <a:pPr algn="ctr">
              <a:defRPr sz="1200">
                <a:solidFill>
                  <a:srgbClr val="1A1A2E"/>
                </a:solidFill>
              </a:defRPr>
            </a:pPr>
            <a:r>
              <a:t>Diferencia significativa</a:t>
            </a:r>
          </a:p>
        </p:txBody>
      </p:sp>
      <p:sp>
        <p:nvSpPr>
          <p:cNvPr id="152" name="Shape 6"/>
          <p:cNvSpPr/>
          <p:nvPr/>
        </p:nvSpPr>
        <p:spPr>
          <a:xfrm>
            <a:off x="6126479" y="2926079"/>
            <a:ext cx="2743201" cy="1828801"/>
          </a:xfrm>
          <a:prstGeom prst="rect">
            <a:avLst/>
          </a:prstGeom>
          <a:solidFill>
            <a:srgbClr val="16213E"/>
          </a:solidFill>
          <a:ln w="12700">
            <a:solidFill>
              <a:srgbClr val="A0A8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7"/>
          <p:cNvSpPr txBox="1"/>
          <p:nvPr/>
        </p:nvSpPr>
        <p:spPr>
          <a:xfrm>
            <a:off x="6172200" y="3017520"/>
            <a:ext cx="2651761" cy="794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A0A8B8"/>
                </a:solidFill>
              </a:defRPr>
            </a:pPr>
            <a:r>
              <a:t>Solo corredores Mass</a:t>
            </a:r>
          </a:p>
          <a:p>
            <a:pPr>
              <a:defRPr b="1"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Los elites tienen estándares</a:t>
            </a: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de clasificación distintos</a:t>
            </a: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y distorsionarían el análisis.</a:t>
            </a:r>
          </a:p>
        </p:txBody>
      </p:sp>
      <p:pic>
        <p:nvPicPr>
          <p:cNvPr id="154" name="Captura de pantalla 2026-04-02 a la(s) 4.53.24 p.m..png" descr="Captura de pantalla 2026-04-02 a la(s) 4.53.24 p.m.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6276" y="1420622"/>
            <a:ext cx="5433118" cy="26265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"/>
          <p:cNvSpPr txBox="1"/>
          <p:nvPr/>
        </p:nvSpPr>
        <p:spPr>
          <a:xfrm>
            <a:off x="457200" y="449198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Resumen de Hallazgos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59" name="Shape 3"/>
          <p:cNvSpPr/>
          <p:nvPr/>
        </p:nvSpPr>
        <p:spPr>
          <a:xfrm>
            <a:off x="365759" y="1143000"/>
            <a:ext cx="8412482" cy="658369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" name="Shape 4"/>
          <p:cNvSpPr/>
          <p:nvPr/>
        </p:nvSpPr>
        <p:spPr>
          <a:xfrm>
            <a:off x="365759" y="1143000"/>
            <a:ext cx="73153" cy="658369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5"/>
          <p:cNvSpPr txBox="1"/>
          <p:nvPr/>
        </p:nvSpPr>
        <p:spPr>
          <a:xfrm>
            <a:off x="548640" y="1336039"/>
            <a:ext cx="7315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ECC7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H1 ✅</a:t>
            </a:r>
          </a:p>
        </p:txBody>
      </p:sp>
      <p:sp>
        <p:nvSpPr>
          <p:cNvPr id="162" name="Text 6"/>
          <p:cNvSpPr txBox="1"/>
          <p:nvPr/>
        </p:nvSpPr>
        <p:spPr>
          <a:xfrm>
            <a:off x="1371600" y="1405050"/>
            <a:ext cx="72237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8E8"/>
                </a:solidFill>
              </a:defRPr>
            </a:lvl1pPr>
          </a:lstStyle>
          <a:p>
            <a:pPr/>
            <a:r>
              <a:t>A mayor desnivel → tiempos más lentos. Berlín/Chicago (25-35m) concentran los récords mundiales.</a:t>
            </a:r>
          </a:p>
        </p:txBody>
      </p:sp>
      <p:sp>
        <p:nvSpPr>
          <p:cNvPr id="163" name="Shape 7"/>
          <p:cNvSpPr/>
          <p:nvPr/>
        </p:nvSpPr>
        <p:spPr>
          <a:xfrm>
            <a:off x="365759" y="1892807"/>
            <a:ext cx="8412482" cy="658369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Shape 8"/>
          <p:cNvSpPr/>
          <p:nvPr/>
        </p:nvSpPr>
        <p:spPr>
          <a:xfrm>
            <a:off x="365759" y="1892807"/>
            <a:ext cx="73153" cy="658369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9"/>
          <p:cNvSpPr txBox="1"/>
          <p:nvPr/>
        </p:nvSpPr>
        <p:spPr>
          <a:xfrm>
            <a:off x="548640" y="2085848"/>
            <a:ext cx="7315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ECC7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H2 ✅</a:t>
            </a:r>
          </a:p>
        </p:txBody>
      </p:sp>
      <p:sp>
        <p:nvSpPr>
          <p:cNvPr id="166" name="Text 10"/>
          <p:cNvSpPr txBox="1"/>
          <p:nvPr/>
        </p:nvSpPr>
        <p:spPr>
          <a:xfrm>
            <a:off x="1371600" y="2154858"/>
            <a:ext cx="72237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8E8"/>
                </a:solidFill>
              </a:defRPr>
            </a:lvl1pPr>
          </a:lstStyle>
          <a:p>
            <a:pPr/>
            <a:r>
              <a:t>Temperatura tiene impacto significativo. Berlín 19°C = solo 87.3% finalizaron. Confirmado individualmente en Londres.</a:t>
            </a:r>
          </a:p>
        </p:txBody>
      </p:sp>
      <p:sp>
        <p:nvSpPr>
          <p:cNvPr id="167" name="Shape 11"/>
          <p:cNvSpPr/>
          <p:nvPr/>
        </p:nvSpPr>
        <p:spPr>
          <a:xfrm>
            <a:off x="365759" y="2642616"/>
            <a:ext cx="8412482" cy="658369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" name="Shape 12"/>
          <p:cNvSpPr/>
          <p:nvPr/>
        </p:nvSpPr>
        <p:spPr>
          <a:xfrm>
            <a:off x="365759" y="2642616"/>
            <a:ext cx="73153" cy="658369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13"/>
          <p:cNvSpPr txBox="1"/>
          <p:nvPr/>
        </p:nvSpPr>
        <p:spPr>
          <a:xfrm>
            <a:off x="548640" y="2835655"/>
            <a:ext cx="7315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ECC7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H3 ✅</a:t>
            </a:r>
          </a:p>
        </p:txBody>
      </p:sp>
      <p:sp>
        <p:nvSpPr>
          <p:cNvPr id="170" name="Text 14"/>
          <p:cNvSpPr txBox="1"/>
          <p:nvPr/>
        </p:nvSpPr>
        <p:spPr>
          <a:xfrm>
            <a:off x="1371600" y="2904666"/>
            <a:ext cx="72237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8E8"/>
                </a:solidFill>
              </a:defRPr>
            </a:lvl1pPr>
          </a:lstStyle>
          <a:p>
            <a:pPr/>
            <a:r>
              <a:t>Berlín: menor popularidad, mejor rendimiento élite. No hay correlación directa popularidad–rendimiento.</a:t>
            </a:r>
          </a:p>
        </p:txBody>
      </p:sp>
      <p:sp>
        <p:nvSpPr>
          <p:cNvPr id="171" name="Shape 15"/>
          <p:cNvSpPr/>
          <p:nvPr/>
        </p:nvSpPr>
        <p:spPr>
          <a:xfrm>
            <a:off x="365759" y="3392423"/>
            <a:ext cx="8412482" cy="658369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" name="Shape 16"/>
          <p:cNvSpPr/>
          <p:nvPr/>
        </p:nvSpPr>
        <p:spPr>
          <a:xfrm>
            <a:off x="365759" y="3392423"/>
            <a:ext cx="73153" cy="658369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7"/>
          <p:cNvSpPr txBox="1"/>
          <p:nvPr/>
        </p:nvSpPr>
        <p:spPr>
          <a:xfrm>
            <a:off x="548640" y="3585464"/>
            <a:ext cx="7315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ECC7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H4 ✅</a:t>
            </a:r>
          </a:p>
        </p:txBody>
      </p:sp>
      <p:sp>
        <p:nvSpPr>
          <p:cNvPr id="174" name="Text 18"/>
          <p:cNvSpPr txBox="1"/>
          <p:nvPr/>
        </p:nvSpPr>
        <p:spPr>
          <a:xfrm>
            <a:off x="1371600" y="3654474"/>
            <a:ext cx="72237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8E8"/>
                </a:solidFill>
              </a:defRPr>
            </a:lvl1pPr>
          </a:lstStyle>
          <a:p>
            <a:pPr/>
            <a:r>
              <a:t>Brecha élite/amateur es enorme (~2h vs ~4-5h). T-test confirma significancia estadística.</a:t>
            </a:r>
          </a:p>
        </p:txBody>
      </p:sp>
      <p:sp>
        <p:nvSpPr>
          <p:cNvPr id="175" name="Shape 19"/>
          <p:cNvSpPr/>
          <p:nvPr/>
        </p:nvSpPr>
        <p:spPr>
          <a:xfrm>
            <a:off x="365759" y="4142232"/>
            <a:ext cx="8412482" cy="658369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Shape 20"/>
          <p:cNvSpPr/>
          <p:nvPr/>
        </p:nvSpPr>
        <p:spPr>
          <a:xfrm>
            <a:off x="365759" y="4142232"/>
            <a:ext cx="73153" cy="658369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21"/>
          <p:cNvSpPr txBox="1"/>
          <p:nvPr/>
        </p:nvSpPr>
        <p:spPr>
          <a:xfrm>
            <a:off x="548640" y="4335271"/>
            <a:ext cx="7315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2ECC7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H5 ✅</a:t>
            </a:r>
          </a:p>
        </p:txBody>
      </p:sp>
      <p:sp>
        <p:nvSpPr>
          <p:cNvPr id="178" name="Text 22"/>
          <p:cNvSpPr txBox="1"/>
          <p:nvPr/>
        </p:nvSpPr>
        <p:spPr>
          <a:xfrm>
            <a:off x="1371600" y="4404282"/>
            <a:ext cx="722376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E8E8"/>
                </a:solidFill>
              </a:defRPr>
            </a:lvl1pPr>
          </a:lstStyle>
          <a:p>
            <a:pPr/>
            <a:r>
              <a:t>Mayor edad → tiempos más lentos. Confirmado con t-test (jóvenes &lt;50 vs mayores 50+).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1"/>
          <p:cNvSpPr txBox="1"/>
          <p:nvPr/>
        </p:nvSpPr>
        <p:spPr>
          <a:xfrm>
            <a:off x="457200" y="467614"/>
            <a:ext cx="8229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Limitaciones y Próximos Pasos</a:t>
            </a:r>
          </a:p>
        </p:txBody>
      </p:sp>
      <p:sp>
        <p:nvSpPr>
          <p:cNvPr id="182" name="Text 2"/>
          <p:cNvSpPr txBox="1"/>
          <p:nvPr/>
        </p:nvSpPr>
        <p:spPr>
          <a:xfrm>
            <a:off x="8732519" y="4777784"/>
            <a:ext cx="274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A0A8B8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83" name="Shape 3"/>
          <p:cNvSpPr/>
          <p:nvPr/>
        </p:nvSpPr>
        <p:spPr>
          <a:xfrm>
            <a:off x="365759" y="1188719"/>
            <a:ext cx="3931922" cy="3657601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" name="Text 4"/>
          <p:cNvSpPr txBox="1"/>
          <p:nvPr/>
        </p:nvSpPr>
        <p:spPr>
          <a:xfrm>
            <a:off x="666049" y="1372869"/>
            <a:ext cx="374904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E74C3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⚠️  Limitaciones</a:t>
            </a:r>
          </a:p>
        </p:txBody>
      </p:sp>
      <p:sp>
        <p:nvSpPr>
          <p:cNvPr id="185" name="Text 5"/>
          <p:cNvSpPr txBox="1"/>
          <p:nvPr/>
        </p:nvSpPr>
        <p:spPr>
          <a:xfrm>
            <a:off x="502919" y="1828800"/>
            <a:ext cx="3657601" cy="1950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A0A8B8"/>
                </a:solidFill>
              </a:defRPr>
            </a:pPr>
            <a:r>
              <a:t>• Dataset Majors solo 2025 (n=7)</a:t>
            </a:r>
          </a:p>
          <a:p>
            <a:pPr>
              <a:defRPr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• Correlación heatmap orientativa</a:t>
            </a: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  (tamaño muestral mínimo)</a:t>
            </a:r>
          </a:p>
          <a:p>
            <a:pPr>
              <a:defRPr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• Datos climáticos algunos estimados</a:t>
            </a:r>
          </a:p>
          <a:p>
            <a:pPr>
              <a:defRPr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• Tiempos medios amateur en algunos</a:t>
            </a: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  majors no disponibles</a:t>
            </a:r>
          </a:p>
          <a:p>
            <a:pPr>
              <a:defRPr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• Boston: sesgo de selección por</a:t>
            </a: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  qualifying times</a:t>
            </a:r>
          </a:p>
        </p:txBody>
      </p:sp>
      <p:sp>
        <p:nvSpPr>
          <p:cNvPr id="186" name="Shape 6"/>
          <p:cNvSpPr/>
          <p:nvPr/>
        </p:nvSpPr>
        <p:spPr>
          <a:xfrm>
            <a:off x="4846320" y="1188719"/>
            <a:ext cx="3931921" cy="3657601"/>
          </a:xfrm>
          <a:prstGeom prst="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" name="Text 7"/>
          <p:cNvSpPr txBox="1"/>
          <p:nvPr/>
        </p:nvSpPr>
        <p:spPr>
          <a:xfrm>
            <a:off x="5155690" y="1372869"/>
            <a:ext cx="374904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2ECC7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🚀  Próximos Pasos</a:t>
            </a:r>
          </a:p>
        </p:txBody>
      </p:sp>
      <p:sp>
        <p:nvSpPr>
          <p:cNvPr id="188" name="Text 8"/>
          <p:cNvSpPr txBox="1"/>
          <p:nvPr/>
        </p:nvSpPr>
        <p:spPr>
          <a:xfrm>
            <a:off x="4983479" y="1828800"/>
            <a:ext cx="3657601" cy="1950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A0A8B8"/>
                </a:solidFill>
              </a:defRPr>
            </a:pPr>
            <a:r>
              <a:t>• Ampliar Majors a 2016-2024</a:t>
            </a:r>
          </a:p>
          <a:p>
            <a:pPr>
              <a:defRPr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• API climática histórica</a:t>
            </a: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  (Open-Meteo / Meteostat)</a:t>
            </a:r>
          </a:p>
          <a:p>
            <a:pPr>
              <a:defRPr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• Análisis de split ratio</a:t>
            </a: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  (primera vs segunda mitad)</a:t>
            </a:r>
          </a:p>
          <a:p>
            <a:pPr>
              <a:defRPr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• Modelo de regresión múltiple</a:t>
            </a: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  (temperatura + altimetría + edad)</a:t>
            </a:r>
          </a:p>
          <a:p>
            <a:pPr>
              <a:defRPr sz="1100">
                <a:solidFill>
                  <a:srgbClr val="A0A8B8"/>
                </a:solidFill>
              </a:defRPr>
            </a:pPr>
          </a:p>
          <a:p>
            <a:pPr>
              <a:defRPr sz="1100">
                <a:solidFill>
                  <a:srgbClr val="A0A8B8"/>
                </a:solidFill>
              </a:defRPr>
            </a:pPr>
            <a:r>
              <a:t>• Comparativa por género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-1" y="0"/>
            <a:ext cx="2926082" cy="5143500"/>
          </a:xfrm>
          <a:prstGeom prst="rect">
            <a:avLst/>
          </a:prstGeom>
          <a:solidFill>
            <a:srgbClr val="5FDF47"/>
          </a:solidFill>
          <a:ln w="12700">
            <a:solidFill>
              <a:srgbClr val="5FDF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Shape 1"/>
          <p:cNvSpPr/>
          <p:nvPr/>
        </p:nvSpPr>
        <p:spPr>
          <a:xfrm>
            <a:off x="2926079" y="0"/>
            <a:ext cx="137161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3"/>
          <p:cNvSpPr txBox="1"/>
          <p:nvPr/>
        </p:nvSpPr>
        <p:spPr>
          <a:xfrm>
            <a:off x="3291840" y="727709"/>
            <a:ext cx="54864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5FDF47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Conclusión</a:t>
            </a:r>
          </a:p>
        </p:txBody>
      </p:sp>
      <p:sp>
        <p:nvSpPr>
          <p:cNvPr id="193" name="Text 4"/>
          <p:cNvSpPr txBox="1"/>
          <p:nvPr/>
        </p:nvSpPr>
        <p:spPr>
          <a:xfrm>
            <a:off x="3291840" y="1688663"/>
            <a:ext cx="54864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El rendimiento en los World Marathon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Majors es multifactorial:</a:t>
            </a:r>
          </a:p>
        </p:txBody>
      </p:sp>
      <p:sp>
        <p:nvSpPr>
          <p:cNvPr id="194" name="Text 5"/>
          <p:cNvSpPr txBox="1"/>
          <p:nvPr/>
        </p:nvSpPr>
        <p:spPr>
          <a:xfrm>
            <a:off x="3291840" y="2627061"/>
            <a:ext cx="5486401" cy="872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5FDF47"/>
                </a:solidFill>
              </a:defRPr>
            </a:pPr>
            <a:r>
              <a:t>Temperatura + Altimetría + Edad</a:t>
            </a:r>
          </a:p>
          <a:p>
            <a:pPr>
              <a:defRPr b="1" sz="1500">
                <a:solidFill>
                  <a:srgbClr val="FF6B35"/>
                </a:solidFill>
              </a:defRPr>
            </a:pPr>
          </a:p>
          <a:p>
            <a:pPr>
              <a:defRPr sz="1500">
                <a:solidFill>
                  <a:srgbClr val="E8E8E8"/>
                </a:solidFill>
              </a:defRPr>
            </a:pPr>
            <a:r>
              <a:t>explican conjuntamente la mayor</a:t>
            </a:r>
          </a:p>
          <a:p>
            <a:pPr>
              <a:defRPr sz="1500">
                <a:solidFill>
                  <a:srgbClr val="E8E8E8"/>
                </a:solidFill>
              </a:defRPr>
            </a:pPr>
            <a:r>
              <a:t>parte de la variación en tiempos.</a:t>
            </a:r>
          </a:p>
        </p:txBody>
      </p:sp>
      <p:sp>
        <p:nvSpPr>
          <p:cNvPr id="195" name="Text 6"/>
          <p:cNvSpPr txBox="1"/>
          <p:nvPr/>
        </p:nvSpPr>
        <p:spPr>
          <a:xfrm>
            <a:off x="3291840" y="3996690"/>
            <a:ext cx="548640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¿Preguntas?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